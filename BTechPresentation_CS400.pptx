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9F691-A225-450C-BD8C-7FCF826521BF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3FA1-4510-41DD-9631-7B540903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00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83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442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1542-9B70-BC2B-9F08-140B74A8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FF4D2-6C80-A2CC-EAED-B3641FDAE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753C5-02B9-7A15-D8E5-BE6B6885B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7CC0-21EA-AF6F-1F6D-58296E6BC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7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6790-5258-C145-D078-37EE5CC52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020DC-7466-A932-B5FA-02504A6C5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45FF-9210-F2C1-2448-37141AFD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663A9-C6FB-8B24-3018-AE57F947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94637-0C6A-4C97-5C22-A059280B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84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3063-87C4-8E7E-EDE2-88DE01BC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FDB1-38E2-468C-0A73-6059269A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E457A-72C0-32BE-2FD3-E16E91E6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C26AB-B608-AFAC-CCC2-D8B21481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95575-427B-7133-65D0-702AB362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59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EB22-96B6-81F7-6D6F-487FB59B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1C2EC-FA6A-2D32-4DF2-F6DCCFBB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5FA3-C4A6-C2D4-A9AC-8652502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C888-DF0E-D9CA-7264-6175C90B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E776-0052-6FD7-B61F-AA2FE035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9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C8AA-9EB5-191E-7541-991C2302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FCB25-E3DE-6052-09A8-C8CAFAF13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B8FC9-6F15-38F0-8007-37DB8CEC7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F501-287E-8F1C-53BA-8B1500C6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8696C-51B6-C08E-EEC1-D7C7A555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9DC0C-BBD7-BFAA-B152-28674868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25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21B5-79D2-7B2C-C791-FC9EB7A5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014B-FC33-EAB4-4576-3526FA45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C5677-1842-69A9-D4B5-D4A0FFB6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29F86-DE07-2ED6-657E-8259CA24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E6AFB-0038-3F21-DDAB-EE8E4BC45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66D04-368B-E3A4-2DC9-79A354C4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AC324-72A1-38EF-DC80-0D553F9D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3A865-3F86-DD39-018C-22B620F0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9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F2E9-AD77-E82D-BE8E-6634C01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0B881-A83D-ADE6-2B07-8AB04215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330C8-78D8-7CAD-06FD-26630EA4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0A805-3384-5B28-461D-F07758DD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54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AC3F3-EA2B-7051-58C8-A702D0A4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31288-FDFD-FA96-A76B-F0E478B8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2917A-9840-75D8-7279-06449730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9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89FA-7377-BD9D-19DC-0265D425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E79A-3B40-0511-5F1F-28FB7BB9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7721-91D2-F6A3-D38C-4BDC0884E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E24A1-2BEA-95E8-3ED6-B97400EA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6BA76-77D4-E443-6831-96FB4266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EB9D8-7E45-7003-282C-CE99BD73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7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5A76-A7A8-FBC7-C740-34FB701B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70D87-E5F9-27A6-DE67-1DF33FCD6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803AF-B348-1A9A-3A95-2560FFB91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79B81-9429-0ACC-35BB-ECE333BE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DAE19-1CE7-EFC7-0531-5C959456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61CEE-0982-830E-2150-28928DED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4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78F4-F53F-B78F-AC2F-8B513D82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CCAC2-7892-EB75-8B95-74E62A6C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F6B09-E76A-84D6-92D8-F5DA5A8F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4480-0DA9-C12C-ABE6-9334E9C9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0ED4C-2F5B-B52A-9B44-D5948E7C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7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9C509-7E72-525B-CFD7-E9B843EC8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230E8-FC19-32D5-50D5-94D4BB305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C01C7-6E3C-506A-1F03-86833DE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F01C-A5AF-EAD1-C23E-40F4A6A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062DB-14AB-3DFE-A728-D5CA212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87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C1BE1-9A9E-F8E4-25ED-A4E65918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8A641-BDA0-5476-5D78-A47CB40B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A3A7E-CA78-393E-4CBB-2FC1984B8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9FD05-0299-461C-8121-9386E0C8B94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08830-DD7D-8DF0-C90F-DB7D4340D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0242-EABB-C512-2E6A-711E665CE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06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E15D-7C0F-103D-C652-7FEDA4F33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1262106"/>
            <a:ext cx="11737258" cy="50600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Calibri (Body)"/>
              </a:rPr>
              <a:t>Introduction</a:t>
            </a:r>
            <a:r>
              <a:rPr lang="en-IN" dirty="0">
                <a:latin typeface="Calibri (Body)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Vision Transformers achieve state-of-the-art results but suffer from massive parameter counts and computational costs due to uniform processing.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1.1 Problem Statement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900" dirty="0"/>
              <a:t>Standard </a:t>
            </a:r>
            <a:r>
              <a:rPr lang="en-US" sz="1900" dirty="0" err="1"/>
              <a:t>ViTs</a:t>
            </a:r>
            <a:r>
              <a:rPr lang="en-US" sz="1900" dirty="0"/>
              <a:t> inefficiently apply the same deep computation to trivial background patches as they do to complex objects. This fixed-depth </a:t>
            </a:r>
            <a:r>
              <a:rPr lang="en-US" sz="2000" dirty="0"/>
              <a:t>causes a lot of unnecessary computation, making it difficult to run on </a:t>
            </a:r>
            <a:r>
              <a:rPr lang="en-US" sz="2000"/>
              <a:t>edge devices.</a:t>
            </a:r>
            <a:endParaRPr lang="en-US" sz="19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b="1" dirty="0"/>
              <a:t>1.2 Objective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900" dirty="0"/>
              <a:t>To implement </a:t>
            </a:r>
            <a:r>
              <a:rPr lang="en-US" sz="1900" b="1" dirty="0" err="1"/>
              <a:t>MoR-ViT</a:t>
            </a:r>
            <a:r>
              <a:rPr lang="en-US" sz="1900" dirty="0"/>
              <a:t>, a recursive architecture that uses an Expert-Choice router to dynamically allocate compute. This system physically removes unimportant tokens at early stages to drastically reduce parameters and FLOPs while maintaining high classification accuracy.</a:t>
            </a:r>
          </a:p>
          <a:p>
            <a:pPr marL="0" indent="0">
              <a:buNone/>
            </a:pPr>
            <a:r>
              <a:rPr lang="en-IN" b="1" dirty="0">
                <a:latin typeface="Calibri (Body)"/>
              </a:rPr>
              <a:t>Motivation</a:t>
            </a:r>
            <a:r>
              <a:rPr lang="en-IN" dirty="0">
                <a:latin typeface="Calibri (Body)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In real-world images, information is not evenly distributed. Processing every pixel with the same cost is inefficient. We need "Adaptive Computation."</a:t>
            </a:r>
            <a:endParaRPr lang="en-IN" sz="2000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Normal Vision Transformers are very large so they run too slow on phones or small devices. We need a method where the model can go deeper without becoming too big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Recent works like </a:t>
            </a:r>
            <a:r>
              <a:rPr lang="en-US" sz="2000" i="1" dirty="0"/>
              <a:t>Mixture-of-Recursions (</a:t>
            </a:r>
            <a:r>
              <a:rPr lang="en-US" sz="2000" i="1" dirty="0" err="1"/>
              <a:t>MoR</a:t>
            </a:r>
            <a:r>
              <a:rPr lang="en-US" sz="2000" i="1" dirty="0"/>
              <a:t>)</a:t>
            </a:r>
            <a:r>
              <a:rPr lang="en-US" sz="2000" dirty="0"/>
              <a:t> proved that recursive (shared weight) models work well on Transformers. I aim to translate this method into a practical vision architecture.</a:t>
            </a:r>
            <a:endParaRPr lang="en-IN" sz="2000" dirty="0">
              <a:latin typeface="Calibri (Body)"/>
            </a:endParaRP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9C1118-8D58-9DA5-DCEF-3613F05119D1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8421A50B-6609-AFDD-689D-A5E713D8CB29}"/>
                </a:ext>
              </a:extLst>
            </p:cNvPr>
            <p:cNvSpPr txBox="1">
              <a:spLocks/>
            </p:cNvSpPr>
            <p:nvPr/>
          </p:nvSpPr>
          <p:spPr>
            <a:xfrm>
              <a:off x="3286125" y="6261100"/>
              <a:ext cx="3663315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</a:t>
              </a:r>
              <a:r>
                <a:rPr lang="en-IN" sz="1400" dirty="0"/>
                <a:t>2201213</a:t>
              </a:r>
              <a:endParaRPr lang="en-IN" sz="1200" b="1" dirty="0"/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194475B1-5A5E-903F-BD8E-AC754086CE6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86125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</a:t>
              </a:r>
              <a:r>
                <a:rPr lang="en-IN" sz="1400" dirty="0"/>
                <a:t>T. Satya Pranav</a:t>
              </a:r>
              <a:endParaRPr lang="en-IN" sz="1200" dirty="0"/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7F1BD94E-A008-DACA-4BEF-C9BA1D850E6A}"/>
                </a:ext>
              </a:extLst>
            </p:cNvPr>
            <p:cNvSpPr txBox="1">
              <a:spLocks/>
            </p:cNvSpPr>
            <p:nvPr/>
          </p:nvSpPr>
          <p:spPr>
            <a:xfrm>
              <a:off x="6949440" y="6261100"/>
              <a:ext cx="5242560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Supervisor: </a:t>
              </a:r>
              <a:r>
                <a:rPr lang="en-IN" sz="1400" dirty="0"/>
                <a:t>Dr. Kaustuv Nag</a:t>
              </a:r>
              <a:endParaRPr lang="en-IN" sz="1200" b="1" dirty="0"/>
            </a:p>
          </p:txBody>
        </p: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EA836EDB-ED8F-3296-E9A3-25FEA0F16EBC}"/>
              </a:ext>
            </a:extLst>
          </p:cNvPr>
          <p:cNvSpPr txBox="1">
            <a:spLocks/>
          </p:cNvSpPr>
          <p:nvPr/>
        </p:nvSpPr>
        <p:spPr>
          <a:xfrm>
            <a:off x="0" y="-4116"/>
            <a:ext cx="12192000" cy="111764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</a:rPr>
              <a:t>Project title:</a:t>
            </a:r>
            <a:r>
              <a:rPr lang="en-US" dirty="0">
                <a:solidFill>
                  <a:schemeClr val="bg1"/>
                </a:solidFill>
              </a:rPr>
              <a:t>Applying Mixture of Recursions (</a:t>
            </a:r>
            <a:r>
              <a:rPr lang="en-US" dirty="0" err="1">
                <a:solidFill>
                  <a:schemeClr val="bg1"/>
                </a:solidFill>
              </a:rPr>
              <a:t>MoR</a:t>
            </a:r>
            <a:r>
              <a:rPr lang="en-US" dirty="0">
                <a:solidFill>
                  <a:schemeClr val="bg1"/>
                </a:solidFill>
              </a:rPr>
              <a:t>) to Vision Transformers (</a:t>
            </a:r>
            <a:r>
              <a:rPr lang="en-US" dirty="0" err="1">
                <a:solidFill>
                  <a:schemeClr val="bg1"/>
                </a:solidFill>
              </a:rPr>
              <a:t>ViT</a:t>
            </a:r>
            <a:r>
              <a:rPr lang="en-US" dirty="0">
                <a:solidFill>
                  <a:schemeClr val="bg1"/>
                </a:solidFill>
              </a:rPr>
              <a:t>)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4143F702-3024-9C8E-72C2-2C3DF86EF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8" r="30286"/>
          <a:stretch>
            <a:fillRect/>
          </a:stretch>
        </p:blipFill>
        <p:spPr>
          <a:xfrm>
            <a:off x="11064145" y="-8877"/>
            <a:ext cx="1127848" cy="11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7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8C635D8-8C28-BD2F-1F1E-E2E48CB6EE77}"/>
              </a:ext>
            </a:extLst>
          </p:cNvPr>
          <p:cNvGrpSpPr/>
          <p:nvPr/>
        </p:nvGrpSpPr>
        <p:grpSpPr>
          <a:xfrm>
            <a:off x="0" y="-8877"/>
            <a:ext cx="12192000" cy="1057221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9D0A2EE0-154E-E948-B676-9A0EC519C2E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Literature review: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CA020E2-B0BE-DCB2-B3B3-3798AA429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014AF74-1ABF-BACD-0C3F-154679BAF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7" y="1042605"/>
                <a:ext cx="8514735" cy="5432354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Attention Is All You Need (The Transformer):</a:t>
                </a:r>
              </a:p>
              <a:p>
                <a:pPr lvl="1"/>
                <a:r>
                  <a:rPr lang="en-US" sz="1600" b="1" dirty="0">
                    <a:latin typeface="Calibri (Body)"/>
                  </a:rPr>
                  <a:t>Concept</a:t>
                </a:r>
                <a:r>
                  <a:rPr lang="en-US" sz="1600" dirty="0">
                    <a:latin typeface="Calibri (Body)"/>
                  </a:rPr>
                  <a:t>: Introduced the standard Transformer architecture based on self-attention, removing recurrence entirely .</a:t>
                </a:r>
              </a:p>
              <a:p>
                <a:pPr lvl="1"/>
                <a:r>
                  <a:rPr lang="en-US" sz="1600" b="1" dirty="0">
                    <a:latin typeface="Calibri (Body)"/>
                  </a:rPr>
                  <a:t>Gaps</a:t>
                </a:r>
                <a:r>
                  <a:rPr lang="en-US" sz="1600" dirty="0">
                    <a:latin typeface="Calibri (Body)"/>
                  </a:rPr>
                  <a:t>: </a:t>
                </a:r>
              </a:p>
              <a:p>
                <a:pPr lvl="2"/>
                <a:r>
                  <a:rPr lang="en-US" sz="1600" b="1" dirty="0">
                    <a:latin typeface="Calibri (Body)"/>
                  </a:rPr>
                  <a:t>Parameter-Heavy</a:t>
                </a:r>
                <a:r>
                  <a:rPr lang="en-US" sz="1600" dirty="0">
                    <a:latin typeface="Calibri (Body)"/>
                  </a:rPr>
                  <a:t>: Uses unique weights for every layer, leading to massive model sizes. </a:t>
                </a:r>
              </a:p>
              <a:p>
                <a:pPr lvl="2"/>
                <a:r>
                  <a:rPr lang="en-US" sz="1600" b="1" dirty="0">
                    <a:latin typeface="Calibri (Body)"/>
                  </a:rPr>
                  <a:t>Uniform Depth</a:t>
                </a:r>
                <a:r>
                  <a:rPr lang="en-US" sz="1600" dirty="0">
                    <a:latin typeface="Calibri (Body)"/>
                  </a:rPr>
                  <a:t>: Every token must pass through the same fixed number of layers, regardless of complexity.</a:t>
                </a:r>
                <a:endParaRPr lang="en-IN" sz="1600" dirty="0">
                  <a:latin typeface="Calibri (Body)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>
                    <a:latin typeface="Calibri (Body)"/>
                  </a:rPr>
                  <a:t>Relaxed Recursive Transformers (RRT)Concept</a:t>
                </a:r>
                <a:r>
                  <a:rPr lang="en-US" sz="2000" dirty="0">
                    <a:latin typeface="Calibri (Body)"/>
                  </a:rPr>
                  <a:t>:</a:t>
                </a:r>
              </a:p>
              <a:p>
                <a:pPr lvl="1"/>
                <a:r>
                  <a:rPr lang="en-US" sz="1600" dirty="0">
                    <a:latin typeface="Calibri (Body)"/>
                  </a:rPr>
                  <a:t>Introduced "layer tying" (recursion) to reuse a single block multiple times, reducing parameter count .</a:t>
                </a:r>
              </a:p>
              <a:p>
                <a:pPr lvl="1"/>
                <a:r>
                  <a:rPr lang="en-US" sz="1600" b="1" dirty="0">
                    <a:latin typeface="Calibri (Body)"/>
                  </a:rPr>
                  <a:t>Gaps</a:t>
                </a:r>
                <a:r>
                  <a:rPr lang="en-US" sz="1600" dirty="0">
                    <a:latin typeface="Calibri (Body)"/>
                  </a:rPr>
                  <a:t>: </a:t>
                </a:r>
              </a:p>
              <a:p>
                <a:pPr lvl="2"/>
                <a:r>
                  <a:rPr lang="en-US" sz="1600" b="1" dirty="0">
                    <a:latin typeface="Calibri (Body)"/>
                  </a:rPr>
                  <a:t>No Adaptive Computation</a:t>
                </a:r>
                <a:r>
                  <a:rPr lang="en-US" sz="1600" dirty="0">
                    <a:latin typeface="Calibri (Body)"/>
                  </a:rPr>
                  <a:t>: While it saves parameters, it still forces every token to go through the same number of recursion steps. It lacks a mechanism to save compute for simple tokens.</a:t>
                </a:r>
                <a:endParaRPr lang="en-IN" sz="1600" dirty="0">
                  <a:latin typeface="Calibri (Body)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>
                    <a:latin typeface="Calibri (Body)"/>
                  </a:rPr>
                  <a:t>Mixture-of-Recursions (</a:t>
                </a:r>
                <a:r>
                  <a:rPr lang="en-US" sz="2000" b="1" dirty="0" err="1">
                    <a:latin typeface="Calibri (Body)"/>
                  </a:rPr>
                  <a:t>MoR</a:t>
                </a:r>
                <a:r>
                  <a:rPr lang="en-US" sz="2000" b="1" dirty="0">
                    <a:latin typeface="Calibri (Body)"/>
                  </a:rPr>
                  <a:t>) :</a:t>
                </a:r>
              </a:p>
              <a:p>
                <a:pPr lvl="1"/>
                <a:r>
                  <a:rPr lang="en-US" sz="1600" b="1" dirty="0">
                    <a:latin typeface="Calibri (Body)"/>
                  </a:rPr>
                  <a:t>Concept: </a:t>
                </a:r>
                <a:r>
                  <a:rPr lang="en-US" sz="1600" dirty="0">
                    <a:latin typeface="Calibri (Body)"/>
                  </a:rPr>
                  <a:t>Unifies</a:t>
                </a:r>
                <a:r>
                  <a:rPr lang="en-US" sz="1600" b="1" dirty="0">
                    <a:latin typeface="Calibri (Body)"/>
                  </a:rPr>
                  <a:t> </a:t>
                </a:r>
                <a:r>
                  <a:rPr lang="en-US" sz="1600" dirty="0">
                    <a:latin typeface="Calibri (Body)"/>
                  </a:rPr>
                  <a:t>Parameter Sharing with Adaptive Computation. It defines a recursive update rule where a shared block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⋅;</m:t>
                        </m:r>
                        <m:sSup>
                          <m:sSupPr>
                            <m:ctrlP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0" dirty="0" smtClean="0">
                                <a:latin typeface="Cambria Math" panose="02040503050406030204" pitchFamily="18" charset="0"/>
                              </a:rPr>
                              <m:t>𝚽</m:t>
                            </m:r>
                          </m:e>
                          <m:sup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>
                    <a:latin typeface="Calibri (Body)"/>
                  </a:rPr>
                  <a:t> is applied repeatedly.</a:t>
                </a:r>
              </a:p>
              <a:p>
                <a:pPr lvl="1"/>
                <a:r>
                  <a:rPr lang="en-US" sz="1600" b="1" dirty="0">
                    <a:latin typeface="Calibri (Body)"/>
                  </a:rPr>
                  <a:t>General Update Formula</a:t>
                </a:r>
                <a:r>
                  <a:rPr lang="en-US" sz="1600" dirty="0">
                    <a:latin typeface="Calibri (Body)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bSup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  <m:sup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bSup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0" dirty="0" smtClean="0">
                                <a:latin typeface="Cambria Math" panose="02040503050406030204" pitchFamily="18" charset="0"/>
                              </a:rPr>
                              <m:t>𝚽</m:t>
                            </m:r>
                          </m:e>
                          <m:sup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bSup>
                  </m:oMath>
                </a14:m>
                <a:r>
                  <a:rPr lang="en-US" sz="1600" dirty="0">
                    <a:latin typeface="Calibri (Body)"/>
                  </a:rPr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b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bSup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latin typeface="Calibri (Body)"/>
                  </a:rPr>
                  <a:t>is the routing gate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i="0" dirty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latin typeface="Calibri (Body)"/>
                  </a:rPr>
                  <a:t>are the shared parameters.</a:t>
                </a:r>
              </a:p>
              <a:p>
                <a:pPr lvl="1"/>
                <a:r>
                  <a:rPr lang="en-US" sz="1600" b="1" dirty="0">
                    <a:latin typeface="Calibri (Body)"/>
                  </a:rPr>
                  <a:t>Bridging the Gap: </a:t>
                </a:r>
                <a:r>
                  <a:rPr lang="en-US" sz="1600" dirty="0">
                    <a:latin typeface="Calibri (Body)"/>
                  </a:rPr>
                  <a:t>Solves "Uniform Depth" by allowing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sz="1600" dirty="0">
                    <a:latin typeface="Calibri (Body)"/>
                  </a:rPr>
                  <a:t>to determine if a token continues processing or exits..</a:t>
                </a:r>
              </a:p>
              <a:p>
                <a:pPr lvl="1"/>
                <a:r>
                  <a:rPr lang="en-US" sz="1600" b="1" dirty="0">
                    <a:latin typeface="Calibri (Body)"/>
                  </a:rPr>
                  <a:t>Application</a:t>
                </a:r>
                <a:r>
                  <a:rPr lang="en-US" sz="1600" dirty="0">
                    <a:latin typeface="Calibri (Body)"/>
                  </a:rPr>
                  <a:t>: Adopted </a:t>
                </a:r>
                <a:r>
                  <a:rPr lang="en-US" sz="1600" dirty="0" err="1">
                    <a:latin typeface="Calibri (Body)"/>
                  </a:rPr>
                  <a:t>MoR</a:t>
                </a:r>
                <a:r>
                  <a:rPr lang="en-US" sz="1600" dirty="0">
                    <a:latin typeface="Calibri (Body)"/>
                  </a:rPr>
                  <a:t> as a proof-of-concept and apply this Token Removal strategy to Vision Transformers (</a:t>
                </a:r>
                <a:r>
                  <a:rPr lang="en-US" sz="1600" dirty="0" err="1">
                    <a:latin typeface="Calibri (Body)"/>
                  </a:rPr>
                  <a:t>ViT</a:t>
                </a:r>
                <a:r>
                  <a:rPr lang="en-US" sz="1600" dirty="0">
                    <a:latin typeface="Calibri (Body)"/>
                  </a:rPr>
                  <a:t>) to eliminate redundancy in image processing.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000" dirty="0">
                  <a:latin typeface="Calibri (Body)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000" dirty="0">
                  <a:latin typeface="Calibri (Body)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000" dirty="0">
                  <a:latin typeface="Calibri (Body)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US" sz="2000" dirty="0">
                  <a:latin typeface="Calibri (Body)"/>
                </a:endParaRPr>
              </a:p>
              <a:p>
                <a:pPr marL="0" indent="0">
                  <a:buNone/>
                </a:pPr>
                <a:endParaRPr lang="en-IN" dirty="0">
                  <a:latin typeface="Calibri (Body)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014AF74-1ABF-BACD-0C3F-154679BAF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7" y="1042605"/>
                <a:ext cx="8514735" cy="5432354"/>
              </a:xfrm>
              <a:blipFill>
                <a:blip r:embed="rId4"/>
                <a:stretch>
                  <a:fillRect l="-716" t="-1571" r="-573" b="-8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341E8370-1E87-22A3-3D16-7B650A51FA02}"/>
              </a:ext>
            </a:extLst>
          </p:cNvPr>
          <p:cNvGrpSpPr/>
          <p:nvPr/>
        </p:nvGrpSpPr>
        <p:grpSpPr>
          <a:xfrm>
            <a:off x="1" y="6472535"/>
            <a:ext cx="12191999" cy="377301"/>
            <a:chOff x="1" y="6261100"/>
            <a:chExt cx="12191999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D3E8704A-657C-CB51-5040-578F1774B5B4}"/>
                </a:ext>
              </a:extLst>
            </p:cNvPr>
            <p:cNvSpPr txBox="1">
              <a:spLocks/>
            </p:cNvSpPr>
            <p:nvPr/>
          </p:nvSpPr>
          <p:spPr>
            <a:xfrm>
              <a:off x="2212849" y="6261100"/>
              <a:ext cx="4736591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</a:t>
              </a:r>
              <a:r>
                <a:rPr lang="en-IN" sz="1400" b="1" dirty="0"/>
                <a:t>2201213</a:t>
              </a:r>
              <a:endParaRPr lang="en-IN" sz="1200" b="1" dirty="0"/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30A105E-2283-5602-29E5-DF866B3FADE1}"/>
                </a:ext>
              </a:extLst>
            </p:cNvPr>
            <p:cNvSpPr txBox="1">
              <a:spLocks/>
            </p:cNvSpPr>
            <p:nvPr/>
          </p:nvSpPr>
          <p:spPr>
            <a:xfrm>
              <a:off x="1" y="6261100"/>
              <a:ext cx="2212848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100" b="1" dirty="0"/>
                <a:t>Name: </a:t>
              </a:r>
              <a:r>
                <a:rPr lang="en-IN" sz="1200" dirty="0"/>
                <a:t>T. Satya Pranav</a:t>
              </a:r>
              <a:endParaRPr lang="en-IN" sz="1100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7EC6BC5-2167-2E0C-2EBA-28FD769A6C6C}"/>
                </a:ext>
              </a:extLst>
            </p:cNvPr>
            <p:cNvSpPr txBox="1">
              <a:spLocks/>
            </p:cNvSpPr>
            <p:nvPr/>
          </p:nvSpPr>
          <p:spPr>
            <a:xfrm>
              <a:off x="4864608" y="6261100"/>
              <a:ext cx="732739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</a:t>
              </a:r>
              <a:r>
                <a:rPr lang="en-IN" sz="1100" b="1" dirty="0"/>
                <a:t>:</a:t>
              </a:r>
              <a:r>
                <a:rPr lang="en-US" sz="1100" dirty="0">
                  <a:solidFill>
                    <a:schemeClr val="bg1"/>
                  </a:solidFill>
                </a:rPr>
                <a:t> 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Applying Mixture of Recursions (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MoR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to Vision Transformers (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ViT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lang="en-IN" sz="1200" b="1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7312458-2646-7592-BC70-BF10FA623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4735" y="1042605"/>
            <a:ext cx="2240664" cy="29595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3205BB2-7250-935E-C9F4-CB321F43F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963" y="4002115"/>
            <a:ext cx="3330110" cy="240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6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6EA4-504E-4B44-A0FA-89B818D6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D31F17-3A7D-4332-FF96-CD031DA0293F}"/>
              </a:ext>
            </a:extLst>
          </p:cNvPr>
          <p:cNvGrpSpPr/>
          <p:nvPr/>
        </p:nvGrpSpPr>
        <p:grpSpPr>
          <a:xfrm>
            <a:off x="0" y="-8877"/>
            <a:ext cx="12192000" cy="864283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48CE9F7E-6FC5-8134-76B2-E703B2F7580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Work Done till date: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71D131A-A591-2D82-7001-4C9AE11B9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621886E-B3AF-1B89-B930-F274665520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840882"/>
                <a:ext cx="12191994" cy="563611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sz="2600" b="1" dirty="0">
                    <a:latin typeface="Calibri (Body)"/>
                  </a:rPr>
                  <a:t>Details of proposed work/solutions: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900" b="1" dirty="0">
                    <a:latin typeface="Calibri (Body)"/>
                  </a:rPr>
                  <a:t>Recursive Backbone</a:t>
                </a:r>
                <a:r>
                  <a:rPr lang="en-US" sz="1900" dirty="0">
                    <a:latin typeface="Calibri (Body)"/>
                  </a:rPr>
                  <a:t>: Replaced the 8-layer stack with a single shared Transformer Encoder Block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900" i="0" dirty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900" dirty="0">
                    <a:latin typeface="Calibri (Body)"/>
                  </a:rPr>
                  <a:t>) reused for 4 recursion steps.</a:t>
                </a:r>
                <a:endParaRPr lang="en-IN" sz="1900" dirty="0">
                  <a:latin typeface="Calibri (Body)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IN" sz="1900" b="1" dirty="0">
                    <a:latin typeface="Calibri (Body)"/>
                  </a:rPr>
                  <a:t>Efficient Router</a:t>
                </a:r>
                <a:r>
                  <a:rPr lang="en-IN" sz="1900" dirty="0">
                    <a:latin typeface="Calibri (Body)"/>
                  </a:rPr>
                  <a:t>: Implemented an Expert-Choice router. At each step </a:t>
                </a:r>
                <a:r>
                  <a:rPr lang="en-IN" sz="1900" b="1" dirty="0">
                    <a:latin typeface="Calibri (Body)"/>
                  </a:rPr>
                  <a:t>r</a:t>
                </a:r>
                <a:r>
                  <a:rPr lang="en-IN" sz="1900" dirty="0">
                    <a:latin typeface="Calibri (Body)"/>
                  </a:rPr>
                  <a:t>, it computes an importance score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9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IN" sz="19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d>
                          <m:dPr>
                            <m:ctrlPr>
                              <a:rPr lang="en-IN" sz="19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900" b="1" i="1" dirty="0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IN" sz="1900" dirty="0">
                    <a:latin typeface="Calibri (Body)"/>
                  </a:rPr>
                  <a:t>for token </a:t>
                </a:r>
                <a:r>
                  <a:rPr lang="en-IN" sz="1900" b="1" dirty="0">
                    <a:latin typeface="Calibri (Body)"/>
                  </a:rPr>
                  <a:t>t</a:t>
                </a:r>
                <a:r>
                  <a:rPr lang="en-IN" sz="1900" dirty="0">
                    <a:latin typeface="Calibri (Body)"/>
                  </a:rPr>
                  <a:t> using a sigmoid activation: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                        </m:t>
                        </m:r>
                        <m:r>
                          <a:rPr lang="en-IN" sz="19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IN" sz="1900" b="1" i="1" dirty="0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d>
                          <m:dPr>
                            <m:ctrlPr>
                              <a:rPr lang="en-IN" sz="19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900" b="1" i="1" dirty="0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sup>
                    </m:sSubSup>
                    <m:r>
                      <a:rPr lang="en-IN" sz="19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900" b="1" i="1" dirty="0" smtClean="0">
                        <a:latin typeface="Cambria Math" panose="02040503050406030204" pitchFamily="18" charset="0"/>
                      </a:rPr>
                      <m:t>𝝈</m:t>
                    </m:r>
                    <m:d>
                      <m:dPr>
                        <m:ctrlPr>
                          <a:rPr lang="en-IN" sz="19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900" b="1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900" b="1" i="1" dirty="0" err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IN" sz="1900" b="1" i="1" dirty="0" err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  <m:r>
                          <a:rPr lang="en-IN" sz="1900" b="1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IN" sz="1900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900" b="1" i="1" dirty="0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IN" sz="1900" b="1" i="1" dirty="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  <m:sup>
                            <m:d>
                              <m:dPr>
                                <m:ctrlPr>
                                  <a:rPr lang="en-IN" sz="19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900" b="1" i="1" dirty="0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</m:sup>
                        </m:sSubSup>
                        <m:r>
                          <a:rPr lang="en-IN" sz="19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1900" b="1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900" b="1" i="1" dirty="0" err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IN" sz="1900" b="1" i="1" dirty="0" err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e>
                    </m:d>
                  </m:oMath>
                </a14:m>
                <a:endParaRPr lang="en-IN" sz="1900" b="1" dirty="0">
                  <a:latin typeface="Calibri (Body)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900" b="1" dirty="0">
                    <a:latin typeface="Calibri (Body)"/>
                  </a:rPr>
                  <a:t>Token Removal Mechanism</a:t>
                </a:r>
                <a:r>
                  <a:rPr lang="en-US" sz="1900" dirty="0">
                    <a:latin typeface="Calibri (Body)"/>
                  </a:rPr>
                  <a:t>: The number of tokens kept,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900" dirty="0">
                    <a:latin typeface="Calibri (Body)"/>
                  </a:rPr>
                  <a:t>, shrinks geometrically based on the keep rate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US" sz="1900" dirty="0">
                    <a:latin typeface="Calibri (Body)"/>
                  </a:rPr>
                  <a:t>: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sz="19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1900" b="1" i="1" dirty="0" err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 dirty="0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p>
                            <m:r>
                              <a:rPr lang="en-US" sz="1900" b="1" i="1" dirty="0" err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</m:e>
                    </m:d>
                    <m:r>
                      <a:rPr lang="en-US" sz="1900" b="1" i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900" dirty="0">
                    <a:latin typeface="Calibri (Body)"/>
                  </a:rPr>
                  <a:t>Only the top-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900" dirty="0">
                    <a:latin typeface="Calibri (Body)"/>
                  </a:rPr>
                  <a:t> tokens are gathered and processed (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9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sSub>
                          <m:sSubPr>
                            <m:ctrlPr>
                              <a:rPr lang="en-US" sz="1900" b="1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1" i="1" dirty="0" err="1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sz="1900" b="1" i="1" dirty="0" err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sup>
                    </m:sSup>
                  </m:oMath>
                </a14:m>
                <a:r>
                  <a:rPr lang="en-US" sz="1900" dirty="0">
                    <a:latin typeface="Calibri (Body)"/>
                  </a:rPr>
                  <a:t>), effectively reducing FLOPs </a:t>
                </a:r>
                <a:endParaRPr lang="en-IN" sz="1900" dirty="0">
                  <a:latin typeface="Calibri (Body)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900" b="1" dirty="0">
                    <a:latin typeface="Calibri (Body)"/>
                  </a:rPr>
                  <a:t>Training Strategy: </a:t>
                </a:r>
                <a:r>
                  <a:rPr lang="en-US" sz="1900" dirty="0">
                    <a:latin typeface="Calibri (Body)"/>
                  </a:rPr>
                  <a:t>Trained end-to-end using Cross-Entropy loss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900" b="1" i="1" dirty="0" err="1" smtClean="0">
                            <a:latin typeface="Cambria Math" panose="02040503050406030204" pitchFamily="18" charset="0"/>
                          </a:rPr>
                          <m:t>𝒕𝒂𝒔𝒌</m:t>
                        </m:r>
                      </m:sub>
                    </m:sSub>
                  </m:oMath>
                </a14:m>
                <a:r>
                  <a:rPr lang="en-US" sz="1900" dirty="0">
                    <a:latin typeface="Calibri (Body)"/>
                  </a:rPr>
                  <a:t>) and an auxiliary Z-loss to stabilize the router’s logit </a:t>
                </a:r>
                <a14:m>
                  <m:oMath xmlns:m="http://schemas.openxmlformats.org/officeDocument/2006/math">
                    <m:r>
                      <a:rPr lang="pt-BR" sz="19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19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900" b="1" i="1" dirty="0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pt-BR" sz="19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pt-BR" sz="1900" b="1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pt-BR" sz="1900" b="1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9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9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pt-BR" sz="1900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  <m:r>
                      <a:rPr lang="pt-BR" sz="19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dirty="0">
                    <a:latin typeface="Calibri (Body)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900" dirty="0">
                    <a:latin typeface="Calibri (Body)"/>
                  </a:rPr>
                  <a:t>                                      </a:t>
                </a:r>
                <a:r>
                  <a:rPr lang="en-US" sz="1900" b="1" dirty="0">
                    <a:latin typeface="Calibri (Body)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𝒕𝒐𝒕𝒂𝒍</m:t>
                        </m:r>
                      </m:sub>
                    </m:sSub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𝒕𝒂𝒔𝒌</m:t>
                        </m:r>
                      </m:sub>
                    </m:sSub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b="1" i="1" dirty="0" smtClean="0">
                        <a:latin typeface="Cambria Math" panose="02040503050406030204" pitchFamily="18" charset="0"/>
                      </a:rPr>
                      <m:t>𝝀</m:t>
                    </m:r>
                    <m:f>
                      <m:fPr>
                        <m:ctrlPr>
                          <a:rPr lang="en-US" sz="19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900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9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sup>
                      <m:e>
                        <m:sSup>
                          <m:sSupPr>
                            <m:ctrlPr>
                              <a:rPr lang="en-US" sz="19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19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1900" b="1" i="0" dirty="0" smtClean="0"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900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sz="1900" b="1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1900" b="1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  <m:r>
                                              <a:rPr lang="en-US" sz="1900" b="1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a:rPr lang="en-US" sz="1900" b="1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900" b="1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𝑵</m:t>
                                            </m:r>
                                          </m:sup>
                                          <m:e/>
                                        </m:nary>
                                        <m:func>
                                          <m:funcPr>
                                            <m:ctrlPr>
                                              <a:rPr lang="en-US" sz="1900" b="1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lang="en-US" sz="1900" b="1" i="0" dirty="0" smtClean="0">
                                                <a:latin typeface="Cambria Math" panose="02040503050406030204" pitchFamily="18" charset="0"/>
                                              </a:rPr>
                                              <m:t>𝐞𝐱𝐩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1900" b="1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𝑾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𝒓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900" b="1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⋅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𝒕</m:t>
                                                    </m:r>
                                                    <m: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𝒊</m:t>
                                                    </m:r>
                                                  </m:sub>
                                                  <m:sup>
                                                    <m:d>
                                                      <m:dPr>
                                                        <m:ctrlPr>
                                                          <a:rPr lang="en-US" sz="1900" b="1" i="1" dirty="0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900" b="1" i="1" dirty="0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𝒓</m:t>
                                                        </m:r>
                                                      </m:e>
                                                    </m:d>
                                                  </m:sup>
                                                </m:sSubSup>
                                                <m:r>
                                                  <a:rPr lang="en-US" sz="1900" b="1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𝒃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900" b="1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𝒓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sz="19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endParaRPr lang="en-IN" sz="2600" b="1" dirty="0"/>
              </a:p>
              <a:p>
                <a:pPr marL="0" indent="0">
                  <a:buNone/>
                </a:pPr>
                <a:r>
                  <a:rPr lang="en-IN" sz="2600" b="1" dirty="0"/>
                  <a:t>Result achieved: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900" b="1" dirty="0">
                    <a:latin typeface="Calibri (Body)"/>
                  </a:rPr>
                  <a:t>Parameter Reduction: </a:t>
                </a:r>
                <a:r>
                  <a:rPr lang="en-US" sz="1900" dirty="0">
                    <a:latin typeface="Calibri (Body)"/>
                  </a:rPr>
                  <a:t>85% reduction (25M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900" dirty="0">
                    <a:latin typeface="Calibri (Body)"/>
                  </a:rPr>
                  <a:t>3.6M parameters).</a:t>
                </a:r>
                <a:endParaRPr lang="en-IN" sz="1900" dirty="0">
                  <a:latin typeface="Calibri (Body)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900" b="1" dirty="0">
                    <a:latin typeface="Calibri (Body)"/>
                  </a:rPr>
                  <a:t>Accuracy Improvement: </a:t>
                </a:r>
                <a:r>
                  <a:rPr lang="en-US" sz="1900" dirty="0">
                    <a:latin typeface="Calibri (Body)"/>
                  </a:rPr>
                  <a:t>+0.87% Top-1 Accuracy (74.14%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900" dirty="0">
                    <a:latin typeface="Calibri (Body)"/>
                  </a:rPr>
                  <a:t> 75.01%).</a:t>
                </a:r>
                <a:endParaRPr lang="en-IN" sz="1900" dirty="0">
                  <a:latin typeface="Calibri (Body)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900" b="1" dirty="0">
                    <a:latin typeface="Calibri (Body)"/>
                  </a:rPr>
                  <a:t>Ablation (Masked vs. Efficient):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900" b="1" dirty="0">
                    <a:latin typeface="Calibri (Body)"/>
                  </a:rPr>
                  <a:t>Masked Routing: </a:t>
                </a:r>
                <a:r>
                  <a:rPr lang="en-US" sz="1900" dirty="0">
                    <a:latin typeface="Calibri (Body)"/>
                  </a:rPr>
                  <a:t>77.27% accuracy (No FLOP savings).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900" b="1" dirty="0">
                    <a:latin typeface="Calibri (Body)"/>
                  </a:rPr>
                  <a:t>Efficient Token Removal</a:t>
                </a:r>
                <a:r>
                  <a:rPr lang="en-US" sz="1900" dirty="0">
                    <a:latin typeface="Calibri (Body)"/>
                  </a:rPr>
                  <a:t>: 75.01% accuracy (Significant FLOP savings).</a:t>
                </a:r>
                <a:endParaRPr lang="en-IN" sz="1900" dirty="0">
                  <a:latin typeface="Calibri (Body)"/>
                </a:endParaRPr>
              </a:p>
              <a:p>
                <a:pPr marL="0" indent="0">
                  <a:buNone/>
                </a:pPr>
                <a:endParaRPr lang="en-IN" dirty="0">
                  <a:latin typeface="Calibri (Body)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621886E-B3AF-1B89-B930-F27466552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840882"/>
                <a:ext cx="12191994" cy="5636111"/>
              </a:xfrm>
              <a:blipFill>
                <a:blip r:embed="rId4"/>
                <a:stretch>
                  <a:fillRect l="-750" t="-2056" r="-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1362E042-32F2-FA18-2746-0AFB933EE614}"/>
              </a:ext>
            </a:extLst>
          </p:cNvPr>
          <p:cNvGrpSpPr/>
          <p:nvPr/>
        </p:nvGrpSpPr>
        <p:grpSpPr>
          <a:xfrm>
            <a:off x="0" y="6472533"/>
            <a:ext cx="12192000" cy="385465"/>
            <a:chOff x="0" y="6248184"/>
            <a:chExt cx="12192000" cy="609816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32090CDE-A58B-E16F-A46A-1976839F89E1}"/>
                </a:ext>
              </a:extLst>
            </p:cNvPr>
            <p:cNvSpPr txBox="1">
              <a:spLocks/>
            </p:cNvSpPr>
            <p:nvPr/>
          </p:nvSpPr>
          <p:spPr>
            <a:xfrm>
              <a:off x="3200399" y="6248184"/>
              <a:ext cx="3084959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</a:t>
              </a:r>
              <a:r>
                <a:rPr lang="en-IN" sz="1400" b="1" dirty="0"/>
                <a:t>2201213</a:t>
              </a:r>
              <a:endParaRPr lang="en-IN" sz="1200" b="1" dirty="0"/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AB063C7F-3F5B-B978-63C2-9CF5E6412C5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48184"/>
              <a:ext cx="3200399" cy="59690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100" b="1" dirty="0"/>
                <a:t>Name: </a:t>
              </a:r>
              <a:r>
                <a:rPr lang="en-IN" sz="1200" dirty="0"/>
                <a:t>T. Satya Pranav</a:t>
              </a:r>
              <a:endParaRPr lang="en-IN" sz="1100" dirty="0"/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4836D-3588-F827-2BA9-CEE35B153A9C}"/>
                </a:ext>
              </a:extLst>
            </p:cNvPr>
            <p:cNvSpPr txBox="1">
              <a:spLocks/>
            </p:cNvSpPr>
            <p:nvPr/>
          </p:nvSpPr>
          <p:spPr>
            <a:xfrm>
              <a:off x="6285358" y="6261100"/>
              <a:ext cx="590664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</a:t>
              </a:r>
              <a:r>
                <a:rPr lang="en-US" sz="1200" dirty="0">
                  <a:solidFill>
                    <a:schemeClr val="bg1"/>
                  </a:solidFill>
                </a:rPr>
                <a:t> 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Applying Mixture of Recursions (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MoR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to Vision Transformers (</a:t>
              </a:r>
              <a:r>
                <a:rPr 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ViT</a:t>
              </a: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  <a:r>
                <a:rPr lang="en-IN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lang="en-IN" sz="12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CF868E8-FE67-E878-B132-7D39C82FB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758" y="4132425"/>
            <a:ext cx="5282049" cy="182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4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713</Words>
  <Application>Microsoft Office PowerPoint</Application>
  <PresentationFormat>Widescreen</PresentationFormat>
  <Paragraphs>54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(Body)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Manojit Ghose</dc:creator>
  <cp:lastModifiedBy>SATYAPRANAV T</cp:lastModifiedBy>
  <cp:revision>5</cp:revision>
  <dcterms:created xsi:type="dcterms:W3CDTF">2025-09-08T13:03:57Z</dcterms:created>
  <dcterms:modified xsi:type="dcterms:W3CDTF">2025-12-09T05:12:58Z</dcterms:modified>
</cp:coreProperties>
</file>